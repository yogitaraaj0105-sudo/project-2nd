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83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7187">
              <a:schemeClr val="tx2">
                <a:lumMod val="50000"/>
              </a:schemeClr>
            </a:gs>
            <a:gs pos="53000">
              <a:schemeClr val="tx2">
                <a:lumMod val="75000"/>
              </a:schemeClr>
            </a:gs>
            <a:gs pos="37000">
              <a:srgbClr val="274D7C"/>
            </a:gs>
            <a:gs pos="25000">
              <a:srgbClr val="36639A"/>
            </a:gs>
            <a:gs pos="10000">
              <a:schemeClr val="tx2">
                <a:lumMod val="60000"/>
                <a:lumOff val="40000"/>
              </a:schemeClr>
            </a:gs>
            <a:gs pos="94297">
              <a:srgbClr val="5A82B5"/>
            </a:gs>
            <a:gs pos="98000">
              <a:srgbClr val="5A82B5"/>
            </a:gs>
            <a:gs pos="94000">
              <a:srgbClr val="41638E"/>
            </a:gs>
            <a:gs pos="100000">
              <a:srgbClr val="72A1DC"/>
            </a:gs>
            <a:gs pos="0">
              <a:schemeClr val="tx2">
                <a:lumMod val="40000"/>
                <a:lumOff val="60000"/>
              </a:schemeClr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412125" y="1133353"/>
            <a:ext cx="663728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468C"/>
                </a:solidFill>
              </a:defRPr>
            </a:pPr>
            <a:r>
              <a:rPr sz="4400" i="1" dirty="0">
                <a:solidFill>
                  <a:schemeClr val="accent6">
                    <a:lumMod val="75000"/>
                  </a:schemeClr>
                </a:solidFill>
              </a:rPr>
              <a:t>Ultimate Calculator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34011" y="2090172"/>
            <a:ext cx="423671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rPr sz="2400" b="1" i="1" dirty="0">
                <a:solidFill>
                  <a:schemeClr val="bg2">
                    <a:lumMod val="75000"/>
                  </a:schemeClr>
                </a:solidFill>
              </a:rPr>
              <a:t>Python GUI Project</a:t>
            </a:r>
            <a:endParaRPr lang="en-US" sz="2400" b="1" i="1" dirty="0">
              <a:solidFill>
                <a:schemeClr val="bg2">
                  <a:lumMod val="75000"/>
                </a:schemeClr>
              </a:solidFill>
            </a:endParaRPr>
          </a:p>
          <a:p>
            <a:pPr>
              <a:defRPr sz="2000"/>
            </a:pPr>
            <a:endParaRPr sz="2400" b="1" i="1" dirty="0">
              <a:solidFill>
                <a:schemeClr val="bg2">
                  <a:lumMod val="75000"/>
                </a:schemeClr>
              </a:solidFill>
            </a:endParaRPr>
          </a:p>
          <a:p>
            <a:pPr>
              <a:defRPr sz="2000"/>
            </a:pPr>
            <a:r>
              <a:rPr sz="2400" b="1" i="1" dirty="0">
                <a:solidFill>
                  <a:schemeClr val="bg2">
                    <a:lumMod val="75000"/>
                  </a:schemeClr>
                </a:solidFill>
              </a:rPr>
              <a:t>Basic + Scientific + Financial Calculator</a:t>
            </a:r>
            <a:endParaRPr lang="en-US" sz="2400" b="1" i="1" dirty="0">
              <a:solidFill>
                <a:schemeClr val="bg2">
                  <a:lumMod val="75000"/>
                </a:schemeClr>
              </a:solidFill>
            </a:endParaRPr>
          </a:p>
          <a:p>
            <a:pPr>
              <a:defRPr sz="2000"/>
            </a:pPr>
            <a:endParaRPr sz="2400" b="1" i="1" dirty="0">
              <a:solidFill>
                <a:schemeClr val="bg2">
                  <a:lumMod val="75000"/>
                </a:schemeClr>
              </a:solidFill>
            </a:endParaRPr>
          </a:p>
          <a:p>
            <a:pPr>
              <a:defRPr sz="2000"/>
            </a:pPr>
            <a:r>
              <a:rPr sz="2400" b="1" i="1" dirty="0">
                <a:solidFill>
                  <a:schemeClr val="bg2">
                    <a:lumMod val="75000"/>
                  </a:schemeClr>
                </a:solidFill>
              </a:rPr>
              <a:t>Developed using </a:t>
            </a:r>
            <a:r>
              <a:rPr sz="2400" b="1" i="1" dirty="0" err="1">
                <a:solidFill>
                  <a:schemeClr val="bg2">
                    <a:lumMod val="75000"/>
                  </a:schemeClr>
                </a:solidFill>
              </a:rPr>
              <a:t>Tkinter</a:t>
            </a:r>
            <a:r>
              <a:rPr sz="2400" b="1" i="1" dirty="0">
                <a:solidFill>
                  <a:schemeClr val="bg2">
                    <a:lumMod val="75000"/>
                  </a:schemeClr>
                </a:solidFill>
              </a:rPr>
              <a:t> and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64008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/>
            </a:pPr>
            <a:r>
              <a:t>Slide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591CEE-D619-45BB-8631-7A46BAD9B2EF}"/>
              </a:ext>
            </a:extLst>
          </p:cNvPr>
          <p:cNvSpPr txBox="1"/>
          <p:nvPr/>
        </p:nvSpPr>
        <p:spPr>
          <a:xfrm>
            <a:off x="7685315" y="4865685"/>
            <a:ext cx="4421777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42850"/>
                </a:solidFill>
              </a:defRPr>
            </a:pPr>
            <a:r>
              <a:rPr lang="en-US" sz="1800" b="1" i="1" dirty="0">
                <a:solidFill>
                  <a:srgbClr val="FFFF00"/>
                </a:solidFill>
              </a:rPr>
              <a:t>By:-</a:t>
            </a:r>
          </a:p>
          <a:p>
            <a:pPr algn="ctr">
              <a:defRPr sz="3200" b="1">
                <a:solidFill>
                  <a:srgbClr val="142850"/>
                </a:solidFill>
              </a:defRPr>
            </a:pPr>
            <a:r>
              <a:rPr lang="en-US" sz="2800" b="1" i="1" dirty="0">
                <a:solidFill>
                  <a:srgbClr val="FFC000"/>
                </a:solidFill>
              </a:rPr>
              <a:t>Yogita Raj</a:t>
            </a:r>
          </a:p>
          <a:p>
            <a:pPr algn="ctr">
              <a:defRPr sz="3200" b="1">
                <a:solidFill>
                  <a:srgbClr val="142850"/>
                </a:solidFill>
              </a:defRPr>
            </a:pPr>
            <a:r>
              <a:rPr lang="en-US" sz="1800" b="1" i="1" dirty="0" err="1">
                <a:solidFill>
                  <a:schemeClr val="bg1">
                    <a:lumMod val="85000"/>
                  </a:schemeClr>
                </a:solidFill>
              </a:rPr>
              <a:t>Digicrome</a:t>
            </a:r>
            <a:endParaRPr lang="en-US" sz="1800" b="1" i="1" dirty="0">
              <a:solidFill>
                <a:schemeClr val="bg1">
                  <a:lumMod val="85000"/>
                </a:schemeClr>
              </a:solidFill>
            </a:endParaRPr>
          </a:p>
          <a:p>
            <a:pPr algn="ctr">
              <a:defRPr sz="3200" b="1">
                <a:solidFill>
                  <a:srgbClr val="142850"/>
                </a:solidFill>
              </a:defRPr>
            </a:pPr>
            <a:r>
              <a:rPr lang="en-US" sz="1800" i="1" dirty="0" err="1">
                <a:solidFill>
                  <a:schemeClr val="bg1">
                    <a:lumMod val="85000"/>
                  </a:schemeClr>
                </a:solidFill>
              </a:rPr>
              <a:t>NextHikes</a:t>
            </a:r>
            <a:r>
              <a:rPr lang="en-US" sz="1800" i="1" dirty="0">
                <a:solidFill>
                  <a:schemeClr val="bg1">
                    <a:lumMod val="85000"/>
                  </a:schemeClr>
                </a:solidFill>
              </a:rPr>
              <a:t> IT Solutions</a:t>
            </a:r>
            <a:endParaRPr lang="en-US" sz="1800" b="1" i="1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072502" y="909712"/>
            <a:ext cx="519915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468C"/>
                </a:solidFill>
              </a:defRPr>
            </a:pPr>
            <a:r>
              <a:rPr sz="4000" dirty="0">
                <a:solidFill>
                  <a:schemeClr val="accent6">
                    <a:lumMod val="75000"/>
                  </a:schemeClr>
                </a:solidFill>
              </a:rP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72502" y="2550944"/>
            <a:ext cx="876366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rPr sz="2400" b="1" dirty="0">
                <a:solidFill>
                  <a:schemeClr val="bg2">
                    <a:lumMod val="75000"/>
                  </a:schemeClr>
                </a:solidFill>
              </a:rPr>
              <a:t>Purpose: Provide multiple calculator types in one application.</a:t>
            </a:r>
          </a:p>
          <a:p>
            <a:pPr>
              <a:defRPr sz="2000"/>
            </a:pPr>
            <a:r>
              <a:rPr sz="2400" b="1" dirty="0">
                <a:solidFill>
                  <a:schemeClr val="bg2">
                    <a:lumMod val="75000"/>
                  </a:schemeClr>
                </a:solidFill>
              </a:rPr>
              <a:t>User-friendly graphical interface.</a:t>
            </a:r>
          </a:p>
          <a:p>
            <a:pPr>
              <a:defRPr sz="2000"/>
            </a:pPr>
            <a:r>
              <a:rPr sz="2400" b="1" dirty="0">
                <a:solidFill>
                  <a:schemeClr val="bg2">
                    <a:lumMod val="75000"/>
                  </a:schemeClr>
                </a:solidFill>
              </a:rPr>
              <a:t>Supports arithmetic, scientific calculations, memory, and financial tools.</a:t>
            </a:r>
          </a:p>
          <a:p>
            <a:pPr>
              <a:defRPr sz="2000"/>
            </a:pPr>
            <a:r>
              <a:rPr sz="2400" b="1" dirty="0">
                <a:solidFill>
                  <a:schemeClr val="bg2">
                    <a:lumMod val="75000"/>
                  </a:schemeClr>
                </a:solidFill>
              </a:rPr>
              <a:t>Designed with color-coded buttons and organized sections.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64008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/>
            </a:pPr>
            <a:r>
              <a:t>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279694" y="1549225"/>
            <a:ext cx="615380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468C"/>
                </a:solidFill>
              </a:defRPr>
            </a:pPr>
            <a:r>
              <a:rPr sz="4000" dirty="0">
                <a:solidFill>
                  <a:schemeClr val="accent6">
                    <a:lumMod val="75000"/>
                  </a:schemeClr>
                </a:solidFill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79694" y="2735610"/>
            <a:ext cx="5592685" cy="15696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rPr sz="2400" b="1" dirty="0">
                <a:solidFill>
                  <a:schemeClr val="bg2">
                    <a:lumMod val="75000"/>
                  </a:schemeClr>
                </a:solidFill>
              </a:rPr>
              <a:t>Perform accurate calculations.</a:t>
            </a:r>
          </a:p>
          <a:p>
            <a:pPr>
              <a:defRPr sz="2000"/>
            </a:pPr>
            <a:r>
              <a:rPr sz="2400" b="1" dirty="0">
                <a:solidFill>
                  <a:schemeClr val="bg2">
                    <a:lumMod val="75000"/>
                  </a:schemeClr>
                </a:solidFill>
              </a:rPr>
              <a:t>Integrate scientific and financial functions.</a:t>
            </a:r>
          </a:p>
          <a:p>
            <a:pPr>
              <a:defRPr sz="2000"/>
            </a:pPr>
            <a:r>
              <a:rPr sz="2400" b="1" dirty="0">
                <a:solidFill>
                  <a:schemeClr val="bg2">
                    <a:lumMod val="75000"/>
                  </a:schemeClr>
                </a:solidFill>
              </a:rPr>
              <a:t>Provide reusable, modular Python code.</a:t>
            </a:r>
          </a:p>
          <a:p>
            <a:pPr>
              <a:defRPr sz="2000"/>
            </a:pPr>
            <a:r>
              <a:rPr sz="2400" b="1" dirty="0">
                <a:solidFill>
                  <a:schemeClr val="bg2">
                    <a:lumMod val="75000"/>
                  </a:schemeClr>
                </a:solidFill>
              </a:rPr>
              <a:t>Create a professional desktop application</a:t>
            </a:r>
            <a:r>
              <a:rPr dirty="0"/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64008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/>
            </a:pPr>
            <a:r>
              <a:t>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34195" y="1391194"/>
            <a:ext cx="711054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468C"/>
                </a:solidFill>
              </a:defRPr>
            </a:pPr>
            <a:r>
              <a:rPr sz="4000" dirty="0">
                <a:solidFill>
                  <a:schemeClr val="accent6">
                    <a:lumMod val="75000"/>
                  </a:schemeClr>
                </a:solidFill>
              </a:rPr>
              <a:t>Technologies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34195" y="2459504"/>
            <a:ext cx="4978414" cy="193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rPr sz="2400" b="1" dirty="0">
                <a:solidFill>
                  <a:schemeClr val="bg2">
                    <a:lumMod val="75000"/>
                  </a:schemeClr>
                </a:solidFill>
              </a:rPr>
              <a:t>Python 3</a:t>
            </a:r>
          </a:p>
          <a:p>
            <a:pPr>
              <a:defRPr sz="2000"/>
            </a:pPr>
            <a:r>
              <a:rPr sz="2400" b="1" dirty="0" err="1">
                <a:solidFill>
                  <a:schemeClr val="bg2">
                    <a:lumMod val="75000"/>
                  </a:schemeClr>
                </a:solidFill>
              </a:rPr>
              <a:t>Tkinter</a:t>
            </a:r>
            <a:r>
              <a:rPr sz="2400" b="1" dirty="0">
                <a:solidFill>
                  <a:schemeClr val="bg2">
                    <a:lumMod val="75000"/>
                  </a:schemeClr>
                </a:solidFill>
              </a:rPr>
              <a:t> for GUI</a:t>
            </a:r>
          </a:p>
          <a:p>
            <a:pPr>
              <a:defRPr sz="2000"/>
            </a:pPr>
            <a:r>
              <a:rPr sz="2400" b="1" dirty="0">
                <a:solidFill>
                  <a:schemeClr val="bg2">
                    <a:lumMod val="75000"/>
                  </a:schemeClr>
                </a:solidFill>
              </a:rPr>
              <a:t>math module for scientific operations</a:t>
            </a:r>
          </a:p>
          <a:p>
            <a:pPr>
              <a:defRPr sz="2000"/>
            </a:pPr>
            <a:r>
              <a:rPr sz="2400" b="1" dirty="0" err="1">
                <a:solidFill>
                  <a:schemeClr val="bg2">
                    <a:lumMod val="75000"/>
                  </a:schemeClr>
                </a:solidFill>
              </a:rPr>
              <a:t>messagebox</a:t>
            </a:r>
            <a:r>
              <a:rPr sz="2400" b="1" dirty="0">
                <a:solidFill>
                  <a:schemeClr val="bg2">
                    <a:lumMod val="75000"/>
                  </a:schemeClr>
                </a:solidFill>
              </a:rPr>
              <a:t> for dialogs</a:t>
            </a:r>
          </a:p>
          <a:p>
            <a:pPr>
              <a:defRPr sz="2000"/>
            </a:pPr>
            <a:r>
              <a:rPr sz="2400" b="1" dirty="0">
                <a:solidFill>
                  <a:schemeClr val="bg2">
                    <a:lumMod val="75000"/>
                  </a:schemeClr>
                </a:solidFill>
              </a:rPr>
              <a:t>Global variables for calculator 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64008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/>
            </a:pPr>
            <a:r>
              <a:t>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478037" y="1391194"/>
            <a:ext cx="537056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468C"/>
                </a:solidFill>
              </a:defRPr>
            </a:pPr>
            <a:r>
              <a:rPr sz="4000" dirty="0">
                <a:solidFill>
                  <a:schemeClr val="accent6">
                    <a:lumMod val="75000"/>
                  </a:schemeClr>
                </a:solidFill>
              </a:rPr>
              <a:t>GUI Layout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25337" y="2521131"/>
            <a:ext cx="4793428" cy="23083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rPr sz="2400" b="1" dirty="0">
                <a:solidFill>
                  <a:schemeClr val="bg2">
                    <a:lumMod val="75000"/>
                  </a:schemeClr>
                </a:solidFill>
              </a:rPr>
              <a:t>Main display at top.</a:t>
            </a:r>
          </a:p>
          <a:p>
            <a:pPr>
              <a:defRPr sz="2000"/>
            </a:pPr>
            <a:r>
              <a:rPr sz="2400" b="1" dirty="0">
                <a:solidFill>
                  <a:schemeClr val="bg2">
                    <a:lumMod val="75000"/>
                  </a:schemeClr>
                </a:solidFill>
              </a:rPr>
              <a:t>Memory buttons (MC, MR, M+, M-).</a:t>
            </a:r>
          </a:p>
          <a:p>
            <a:pPr>
              <a:defRPr sz="2000"/>
            </a:pPr>
            <a:r>
              <a:rPr sz="2400" b="1" dirty="0">
                <a:solidFill>
                  <a:schemeClr val="bg2">
                    <a:lumMod val="75000"/>
                  </a:schemeClr>
                </a:solidFill>
              </a:rPr>
              <a:t>Calculator keypad.</a:t>
            </a:r>
          </a:p>
          <a:p>
            <a:pPr>
              <a:defRPr sz="2000"/>
            </a:pPr>
            <a:r>
              <a:rPr sz="2400" b="1" dirty="0">
                <a:solidFill>
                  <a:schemeClr val="bg2">
                    <a:lumMod val="75000"/>
                  </a:schemeClr>
                </a:solidFill>
              </a:rPr>
              <a:t>Scientific functions panel.</a:t>
            </a:r>
          </a:p>
          <a:p>
            <a:pPr>
              <a:defRPr sz="2000"/>
            </a:pPr>
            <a:r>
              <a:rPr sz="2400" b="1" dirty="0">
                <a:solidFill>
                  <a:schemeClr val="bg2">
                    <a:lumMod val="75000"/>
                  </a:schemeClr>
                </a:solidFill>
              </a:rPr>
              <a:t>Financial calculator panel.</a:t>
            </a:r>
          </a:p>
          <a:p>
            <a:pPr>
              <a:defRPr sz="2000"/>
            </a:pPr>
            <a:r>
              <a:rPr sz="2400" b="1" dirty="0">
                <a:solidFill>
                  <a:schemeClr val="bg2">
                    <a:lumMod val="75000"/>
                  </a:schemeClr>
                </a:solidFill>
              </a:rPr>
              <a:t>Footer describing application.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64008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/>
            </a:pPr>
            <a:r>
              <a:t>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186532" y="1391194"/>
            <a:ext cx="89611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468C"/>
                </a:solidFill>
              </a:defRPr>
            </a:pPr>
            <a:r>
              <a:rPr sz="4000" dirty="0">
                <a:solidFill>
                  <a:schemeClr val="accent6">
                    <a:lumMod val="75000"/>
                  </a:schemeClr>
                </a:solidFill>
              </a:rPr>
              <a:t>Core Functions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86532" y="2724941"/>
            <a:ext cx="7231788" cy="193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rPr sz="2400" b="1" dirty="0">
                <a:solidFill>
                  <a:schemeClr val="bg2">
                    <a:lumMod val="75000"/>
                  </a:schemeClr>
                </a:solidFill>
              </a:rPr>
              <a:t>press(): appends button values.</a:t>
            </a:r>
          </a:p>
          <a:p>
            <a:pPr>
              <a:defRPr sz="2000"/>
            </a:pPr>
            <a:r>
              <a:rPr sz="2400" b="1" dirty="0">
                <a:solidFill>
                  <a:schemeClr val="bg2">
                    <a:lumMod val="75000"/>
                  </a:schemeClr>
                </a:solidFill>
              </a:rPr>
              <a:t>clear(): clears expression.</a:t>
            </a:r>
          </a:p>
          <a:p>
            <a:pPr>
              <a:defRPr sz="2000"/>
            </a:pPr>
            <a:r>
              <a:rPr sz="2400" b="1" dirty="0">
                <a:solidFill>
                  <a:schemeClr val="bg2">
                    <a:lumMod val="75000"/>
                  </a:schemeClr>
                </a:solidFill>
              </a:rPr>
              <a:t>backspace(): removes last character.</a:t>
            </a:r>
          </a:p>
          <a:p>
            <a:pPr>
              <a:defRPr sz="2000"/>
            </a:pPr>
            <a:r>
              <a:rPr sz="2400" b="1" dirty="0">
                <a:solidFill>
                  <a:schemeClr val="bg2">
                    <a:lumMod val="75000"/>
                  </a:schemeClr>
                </a:solidFill>
              </a:rPr>
              <a:t>calculate(): evaluates expressions and percentage logic.</a:t>
            </a:r>
          </a:p>
          <a:p>
            <a:pPr>
              <a:defRPr sz="2000"/>
            </a:pPr>
            <a:r>
              <a:rPr sz="2400" b="1" dirty="0">
                <a:solidFill>
                  <a:schemeClr val="bg2">
                    <a:lumMod val="75000"/>
                  </a:schemeClr>
                </a:solidFill>
              </a:rPr>
              <a:t>scientific(): executes scientific operations.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64008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/>
            </a:pPr>
            <a:r>
              <a:t>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033451" y="1141413"/>
            <a:ext cx="758734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468C"/>
                </a:solidFill>
              </a:defRPr>
            </a:pPr>
            <a:r>
              <a:rPr sz="4000" dirty="0">
                <a:solidFill>
                  <a:schemeClr val="accent6">
                    <a:lumMod val="75000"/>
                  </a:schemeClr>
                </a:solidFill>
              </a:rPr>
              <a:t>Scientific Calculator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33451" y="2763913"/>
            <a:ext cx="939654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rPr sz="2400" b="1" dirty="0">
                <a:solidFill>
                  <a:schemeClr val="bg2">
                    <a:lumMod val="75000"/>
                  </a:schemeClr>
                </a:solidFill>
              </a:rPr>
              <a:t>Functions: sin, cos, tan (degrees), square root, log, natural log, square, cube, factorial, reciprocal.</a:t>
            </a:r>
          </a:p>
          <a:p>
            <a:pPr>
              <a:defRPr sz="2000"/>
            </a:pPr>
            <a:r>
              <a:rPr sz="2400" b="1" dirty="0">
                <a:solidFill>
                  <a:schemeClr val="bg2">
                    <a:lumMod val="75000"/>
                  </a:schemeClr>
                </a:solidFill>
              </a:rPr>
              <a:t>Uses Python math library.</a:t>
            </a:r>
          </a:p>
          <a:p>
            <a:pPr>
              <a:defRPr sz="2000"/>
            </a:pPr>
            <a:r>
              <a:rPr sz="2400" b="1" dirty="0">
                <a:solidFill>
                  <a:schemeClr val="bg2">
                    <a:lumMod val="75000"/>
                  </a:schemeClr>
                </a:solidFill>
              </a:rPr>
              <a:t>Displays Error for invalid inputs.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64008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/>
            </a:pPr>
            <a:r>
              <a:t>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210851" y="1391569"/>
            <a:ext cx="835046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468C"/>
                </a:solidFill>
              </a:defRPr>
            </a:pPr>
            <a:r>
              <a:rPr sz="4000" dirty="0">
                <a:solidFill>
                  <a:schemeClr val="accent6">
                    <a:lumMod val="75000"/>
                  </a:schemeClr>
                </a:solidFill>
              </a:rPr>
              <a:t>Financial Calculator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79694" y="2735610"/>
            <a:ext cx="6087244" cy="15696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rPr sz="2400" dirty="0">
                <a:solidFill>
                  <a:schemeClr val="bg2">
                    <a:lumMod val="75000"/>
                  </a:schemeClr>
                </a:solidFill>
              </a:rPr>
              <a:t>Simple Interest = (P×R×T)/100.</a:t>
            </a:r>
          </a:p>
          <a:p>
            <a:pPr>
              <a:defRPr sz="2000"/>
            </a:pPr>
            <a:r>
              <a:rPr sz="2400" dirty="0">
                <a:solidFill>
                  <a:schemeClr val="bg2">
                    <a:lumMod val="75000"/>
                  </a:schemeClr>
                </a:solidFill>
              </a:rPr>
              <a:t>Compound Interest = P(1+r)^t.</a:t>
            </a:r>
          </a:p>
          <a:p>
            <a:pPr>
              <a:defRPr sz="2000"/>
            </a:pPr>
            <a:r>
              <a:rPr sz="2400" dirty="0">
                <a:solidFill>
                  <a:schemeClr val="bg2">
                    <a:lumMod val="75000"/>
                  </a:schemeClr>
                </a:solidFill>
              </a:rPr>
              <a:t>EMI calculation using monthly interest formula.</a:t>
            </a:r>
          </a:p>
          <a:p>
            <a:pPr>
              <a:defRPr sz="2000"/>
            </a:pPr>
            <a:r>
              <a:rPr sz="2400" dirty="0">
                <a:solidFill>
                  <a:schemeClr val="bg2">
                    <a:lumMod val="75000"/>
                  </a:schemeClr>
                </a:solidFill>
              </a:rPr>
              <a:t>Input fields: Principal, Rate,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64008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/>
            </a:pPr>
            <a:r>
              <a:t>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272937" y="1685109"/>
            <a:ext cx="839288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468C"/>
                </a:solidFill>
              </a:defRPr>
            </a:pPr>
            <a:r>
              <a:rPr sz="4000" dirty="0">
                <a:solidFill>
                  <a:schemeClr val="accent6">
                    <a:lumMod val="75000"/>
                  </a:schemeClr>
                </a:solidFill>
              </a:rPr>
              <a:t>Memory Functions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72937" y="2913017"/>
            <a:ext cx="5411290" cy="15696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rPr sz="2400" b="1" dirty="0">
                <a:solidFill>
                  <a:schemeClr val="bg2">
                    <a:lumMod val="75000"/>
                  </a:schemeClr>
                </a:solidFill>
              </a:rPr>
              <a:t>MC clears memory.</a:t>
            </a:r>
          </a:p>
          <a:p>
            <a:pPr>
              <a:defRPr sz="2000"/>
            </a:pPr>
            <a:r>
              <a:rPr sz="2400" b="1" dirty="0">
                <a:solidFill>
                  <a:schemeClr val="bg2">
                    <a:lumMod val="75000"/>
                  </a:schemeClr>
                </a:solidFill>
              </a:rPr>
              <a:t>MR recalls stored value.</a:t>
            </a:r>
          </a:p>
          <a:p>
            <a:pPr>
              <a:defRPr sz="2000"/>
            </a:pPr>
            <a:r>
              <a:rPr sz="2400" b="1" dirty="0">
                <a:solidFill>
                  <a:schemeClr val="bg2">
                    <a:lumMod val="75000"/>
                  </a:schemeClr>
                </a:solidFill>
              </a:rPr>
              <a:t>M+ adds display value to memory.</a:t>
            </a:r>
          </a:p>
          <a:p>
            <a:pPr>
              <a:defRPr sz="2000"/>
            </a:pPr>
            <a:r>
              <a:rPr sz="2400" b="1" dirty="0">
                <a:solidFill>
                  <a:schemeClr val="bg2">
                    <a:lumMod val="75000"/>
                  </a:schemeClr>
                </a:solidFill>
              </a:rPr>
              <a:t>M- subtracts display value from memory.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64008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/>
            </a:pPr>
            <a:r>
              <a:t>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74372" y="1293223"/>
            <a:ext cx="3741409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468C"/>
                </a:solidFill>
              </a:defRPr>
            </a:pPr>
            <a:r>
              <a:rPr sz="4000" dirty="0">
                <a:solidFill>
                  <a:schemeClr val="accent6">
                    <a:lumMod val="75000"/>
                  </a:schemeClr>
                </a:solidFill>
              </a:rPr>
              <a:t>Percentage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74372" y="2741023"/>
            <a:ext cx="722811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rPr sz="2400" b="1" dirty="0">
                <a:solidFill>
                  <a:schemeClr val="bg2">
                    <a:lumMod val="75000"/>
                  </a:schemeClr>
                </a:solidFill>
              </a:rPr>
              <a:t>Handles expressions such as 100-10%, 100+10%, 50*10%, and 50/10%.</a:t>
            </a:r>
          </a:p>
          <a:p>
            <a:pPr>
              <a:defRPr sz="2000"/>
            </a:pPr>
            <a:r>
              <a:rPr sz="2400" b="1" dirty="0">
                <a:solidFill>
                  <a:schemeClr val="bg2">
                    <a:lumMod val="75000"/>
                  </a:schemeClr>
                </a:solidFill>
              </a:rPr>
              <a:t>Can be improved further using regular expressions for complex chained expressions.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64008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/>
            </a:pPr>
            <a:r>
              <a:t>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990660" y="1010194"/>
            <a:ext cx="8458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468C"/>
                </a:solidFill>
              </a:defRPr>
            </a:pPr>
            <a:r>
              <a:rPr sz="4000" dirty="0">
                <a:solidFill>
                  <a:schemeClr val="accent6">
                    <a:lumMod val="75000"/>
                  </a:schemeClr>
                </a:solidFill>
              </a:rPr>
              <a:t>Program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90660" y="2595530"/>
            <a:ext cx="887178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rPr sz="2400" b="1" dirty="0">
                <a:solidFill>
                  <a:schemeClr val="bg2">
                    <a:lumMod val="75000"/>
                  </a:schemeClr>
                </a:solidFill>
              </a:rPr>
              <a:t>Start application → User presses buttons → Expression updates →</a:t>
            </a:r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pPr algn="ctr">
              <a:defRPr sz="2000"/>
            </a:pPr>
            <a:r>
              <a:rPr sz="2400" b="1" dirty="0">
                <a:solidFill>
                  <a:schemeClr val="bg2">
                    <a:lumMod val="75000"/>
                  </a:schemeClr>
                </a:solidFill>
              </a:rPr>
              <a:t> '=' </a:t>
            </a:r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pPr>
              <a:defRPr sz="2000"/>
            </a:pPr>
            <a:r>
              <a:rPr sz="2400" b="1" dirty="0">
                <a:solidFill>
                  <a:schemeClr val="bg2">
                    <a:lumMod val="75000"/>
                  </a:schemeClr>
                </a:solidFill>
              </a:rPr>
              <a:t>evaluates → Display shows result → Optional scientific/financial calculations.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64008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/>
            </a:pPr>
            <a:r>
              <a:t>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153195" y="1021080"/>
            <a:ext cx="2657779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468C"/>
                </a:solidFill>
              </a:defRPr>
            </a:pPr>
            <a:r>
              <a:rPr sz="4000" dirty="0">
                <a:solidFill>
                  <a:schemeClr val="accent6">
                    <a:lumMod val="75000"/>
                  </a:schemeClr>
                </a:solidFill>
              </a:rPr>
              <a:t>Advantages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53195" y="2118360"/>
            <a:ext cx="8064324" cy="15696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rPr sz="2400" b="1" dirty="0">
                <a:solidFill>
                  <a:schemeClr val="bg2">
                    <a:lumMod val="75000"/>
                  </a:schemeClr>
                </a:solidFill>
              </a:rPr>
              <a:t>Single application for multiple calculations.</a:t>
            </a:r>
          </a:p>
          <a:p>
            <a:pPr>
              <a:defRPr sz="2000"/>
            </a:pPr>
            <a:r>
              <a:rPr sz="2400" b="1" dirty="0">
                <a:solidFill>
                  <a:schemeClr val="bg2">
                    <a:lumMod val="75000"/>
                  </a:schemeClr>
                </a:solidFill>
              </a:rPr>
              <a:t>Simple interface.</a:t>
            </a:r>
          </a:p>
          <a:p>
            <a:pPr>
              <a:defRPr sz="2000"/>
            </a:pPr>
            <a:r>
              <a:rPr sz="2400" b="1" dirty="0">
                <a:solidFill>
                  <a:schemeClr val="bg2">
                    <a:lumMod val="75000"/>
                  </a:schemeClr>
                </a:solidFill>
              </a:rPr>
              <a:t>Modular functions.</a:t>
            </a:r>
          </a:p>
          <a:p>
            <a:pPr>
              <a:defRPr sz="2000"/>
            </a:pPr>
            <a:r>
              <a:rPr sz="2400" b="1" dirty="0">
                <a:solidFill>
                  <a:schemeClr val="bg2">
                    <a:lumMod val="75000"/>
                  </a:schemeClr>
                </a:solidFill>
              </a:rPr>
              <a:t>Easy to extend with graphing, converters, history and themes.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64008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/>
            </a:pPr>
            <a:r>
              <a:t>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132549" y="897583"/>
            <a:ext cx="791496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468C"/>
                </a:solidFill>
              </a:defRPr>
            </a:pPr>
            <a:r>
              <a:rPr sz="4000" dirty="0">
                <a:solidFill>
                  <a:schemeClr val="accent6">
                    <a:lumMod val="75000"/>
                  </a:schemeClr>
                </a:solidFill>
              </a:rP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32549" y="1840069"/>
            <a:ext cx="600245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rPr sz="2400" b="1" dirty="0">
                <a:solidFill>
                  <a:schemeClr val="bg2">
                    <a:lumMod val="75000"/>
                  </a:schemeClr>
                </a:solidFill>
              </a:rPr>
              <a:t>No graph plotting.</a:t>
            </a:r>
          </a:p>
          <a:p>
            <a:pPr>
              <a:defRPr sz="2000"/>
            </a:pPr>
            <a:r>
              <a:rPr sz="2400" b="1" dirty="0">
                <a:solidFill>
                  <a:schemeClr val="bg2">
                    <a:lumMod val="75000"/>
                  </a:schemeClr>
                </a:solidFill>
              </a:rPr>
              <a:t>No parentheses validation.</a:t>
            </a:r>
          </a:p>
          <a:p>
            <a:pPr>
              <a:defRPr sz="2000"/>
            </a:pPr>
            <a:r>
              <a:rPr sz="2400" b="1" dirty="0">
                <a:solidFill>
                  <a:schemeClr val="bg2">
                    <a:lumMod val="75000"/>
                  </a:schemeClr>
                </a:solidFill>
              </a:rPr>
              <a:t>Basic percentage parser.</a:t>
            </a:r>
          </a:p>
          <a:p>
            <a:pPr>
              <a:defRPr sz="2000"/>
            </a:pPr>
            <a:r>
              <a:rPr sz="2400" b="1" dirty="0">
                <a:solidFill>
                  <a:schemeClr val="bg2">
                    <a:lumMod val="75000"/>
                  </a:schemeClr>
                </a:solidFill>
              </a:rPr>
              <a:t>Offline only.</a:t>
            </a:r>
          </a:p>
          <a:p>
            <a:pPr>
              <a:defRPr sz="2000"/>
            </a:pPr>
            <a:r>
              <a:rPr sz="2400" b="1" dirty="0">
                <a:solidFill>
                  <a:schemeClr val="bg2">
                    <a:lumMod val="75000"/>
                  </a:schemeClr>
                </a:solidFill>
              </a:rPr>
              <a:t>Limited expression parser due to eval().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64008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/>
            </a:pPr>
            <a:r>
              <a:t>Slide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143059" y="536823"/>
            <a:ext cx="4832477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468C"/>
                </a:solidFill>
              </a:defRPr>
            </a:pPr>
            <a:r>
              <a:rPr sz="4000" dirty="0">
                <a:solidFill>
                  <a:schemeClr val="accent6">
                    <a:lumMod val="75000"/>
                  </a:schemeClr>
                </a:solidFill>
              </a:rPr>
              <a:t>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43059" y="1600726"/>
            <a:ext cx="3688317" cy="2677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rPr sz="2400" b="1" dirty="0">
                <a:solidFill>
                  <a:schemeClr val="bg2">
                    <a:lumMod val="75000"/>
                  </a:schemeClr>
                </a:solidFill>
              </a:rPr>
              <a:t>Dark/Light mode.</a:t>
            </a:r>
          </a:p>
          <a:p>
            <a:pPr>
              <a:defRPr sz="2000"/>
            </a:pPr>
            <a:r>
              <a:rPr sz="2400" b="1" dirty="0">
                <a:solidFill>
                  <a:schemeClr val="bg2">
                    <a:lumMod val="75000"/>
                  </a:schemeClr>
                </a:solidFill>
              </a:rPr>
              <a:t>Graph plotting.</a:t>
            </a:r>
          </a:p>
          <a:p>
            <a:pPr>
              <a:defRPr sz="2000"/>
            </a:pPr>
            <a:r>
              <a:rPr sz="2400" b="1" dirty="0">
                <a:solidFill>
                  <a:schemeClr val="bg2">
                    <a:lumMod val="75000"/>
                  </a:schemeClr>
                </a:solidFill>
              </a:rPr>
              <a:t>Matrix calculator.</a:t>
            </a:r>
          </a:p>
          <a:p>
            <a:pPr>
              <a:defRPr sz="2000"/>
            </a:pPr>
            <a:r>
              <a:rPr sz="2400" b="1" dirty="0">
                <a:solidFill>
                  <a:schemeClr val="bg2">
                    <a:lumMod val="75000"/>
                  </a:schemeClr>
                </a:solidFill>
              </a:rPr>
              <a:t>Statistics module.</a:t>
            </a:r>
          </a:p>
          <a:p>
            <a:pPr>
              <a:defRPr sz="2000"/>
            </a:pPr>
            <a:r>
              <a:rPr sz="2400" b="1" dirty="0">
                <a:solidFill>
                  <a:schemeClr val="bg2">
                    <a:lumMod val="75000"/>
                  </a:schemeClr>
                </a:solidFill>
              </a:rPr>
              <a:t>Unit &amp; currency converters.</a:t>
            </a:r>
          </a:p>
          <a:p>
            <a:pPr>
              <a:defRPr sz="2000"/>
            </a:pPr>
            <a:r>
              <a:rPr sz="2400" b="1" dirty="0">
                <a:solidFill>
                  <a:schemeClr val="bg2">
                    <a:lumMod val="75000"/>
                  </a:schemeClr>
                </a:solidFill>
              </a:rPr>
              <a:t>Calculation history.</a:t>
            </a:r>
          </a:p>
          <a:p>
            <a:pPr>
              <a:defRPr sz="2000"/>
            </a:pPr>
            <a:r>
              <a:rPr sz="2400" b="1" dirty="0">
                <a:solidFill>
                  <a:schemeClr val="bg2">
                    <a:lumMod val="75000"/>
                  </a:schemeClr>
                </a:solidFill>
              </a:rPr>
              <a:t>Keyboard shortcuts.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64008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/>
            </a:pPr>
            <a:r>
              <a:t>Slide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10909" y="971156"/>
            <a:ext cx="2507418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468C"/>
                </a:solidFill>
              </a:defRPr>
            </a:pPr>
            <a:r>
              <a:rPr sz="4000" dirty="0">
                <a:solidFill>
                  <a:schemeClr val="accent6">
                    <a:lumMod val="75000"/>
                  </a:schemeClr>
                </a:solidFill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64161" y="2000119"/>
            <a:ext cx="812292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rPr b="1" dirty="0">
                <a:solidFill>
                  <a:schemeClr val="bg2">
                    <a:lumMod val="75000"/>
                  </a:schemeClr>
                </a:solidFill>
              </a:rPr>
              <a:t>The Ultimate Calculator demonstrates Python GUI development, event-driven programming, mathematical computation, and modular design.</a:t>
            </a:r>
          </a:p>
          <a:p>
            <a:pPr>
              <a:defRPr sz="2000"/>
            </a:pPr>
            <a:r>
              <a:rPr b="1" dirty="0">
                <a:solidFill>
                  <a:schemeClr val="bg2">
                    <a:lumMod val="75000"/>
                  </a:schemeClr>
                </a:solidFill>
              </a:rPr>
              <a:t>It combines multiple calculator categories into one attractive desktop application.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64008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/>
            </a:pPr>
            <a:r>
              <a:t>Slide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465</Words>
  <Application>Microsoft Office PowerPoint</Application>
  <PresentationFormat>Custom</PresentationFormat>
  <Paragraphs>97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Yogita RAJ</cp:lastModifiedBy>
  <cp:revision>6</cp:revision>
  <dcterms:created xsi:type="dcterms:W3CDTF">2013-01-27T09:14:16Z</dcterms:created>
  <dcterms:modified xsi:type="dcterms:W3CDTF">2026-06-24T07:02:45Z</dcterms:modified>
  <cp:category/>
</cp:coreProperties>
</file>